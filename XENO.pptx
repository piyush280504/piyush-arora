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78" autoAdjust="0"/>
    <p:restoredTop sz="94660"/>
  </p:normalViewPr>
  <p:slideViewPr>
    <p:cSldViewPr snapToGrid="0">
      <p:cViewPr varScale="1">
        <p:scale>
          <a:sx n="76" d="100"/>
          <a:sy n="76" d="100"/>
        </p:scale>
        <p:origin x="82"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C4C4908-A0AE-443F-8655-7D5A47885486}"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D6D8-48C7-4C57-988C-C7DC3D94207F}"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1280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4C4908-A0AE-443F-8655-7D5A47885486}"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D6D8-48C7-4C57-988C-C7DC3D94207F}" type="slidenum">
              <a:rPr lang="en-IN" smtClean="0"/>
              <a:t>‹#›</a:t>
            </a:fld>
            <a:endParaRPr lang="en-IN"/>
          </a:p>
        </p:txBody>
      </p:sp>
    </p:spTree>
    <p:extLst>
      <p:ext uri="{BB962C8B-B14F-4D97-AF65-F5344CB8AC3E}">
        <p14:creationId xmlns:p14="http://schemas.microsoft.com/office/powerpoint/2010/main" val="1764534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4C4908-A0AE-443F-8655-7D5A47885486}"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D6D8-48C7-4C57-988C-C7DC3D94207F}"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17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4C4908-A0AE-443F-8655-7D5A47885486}"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D6D8-48C7-4C57-988C-C7DC3D94207F}" type="slidenum">
              <a:rPr lang="en-IN" smtClean="0"/>
              <a:t>‹#›</a:t>
            </a:fld>
            <a:endParaRPr lang="en-IN"/>
          </a:p>
        </p:txBody>
      </p:sp>
    </p:spTree>
    <p:extLst>
      <p:ext uri="{BB962C8B-B14F-4D97-AF65-F5344CB8AC3E}">
        <p14:creationId xmlns:p14="http://schemas.microsoft.com/office/powerpoint/2010/main" val="3088053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4C4908-A0AE-443F-8655-7D5A47885486}" type="datetimeFigureOut">
              <a:rPr lang="en-IN" smtClean="0"/>
              <a:t>01-12-2025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BCD6D8-48C7-4C57-988C-C7DC3D94207F}" type="slidenum">
              <a:rPr lang="en-IN" smtClean="0"/>
              <a:t>‹#›</a:t>
            </a:fld>
            <a:endParaRPr lang="en-IN"/>
          </a:p>
        </p:txBody>
      </p:sp>
    </p:spTree>
    <p:extLst>
      <p:ext uri="{BB962C8B-B14F-4D97-AF65-F5344CB8AC3E}">
        <p14:creationId xmlns:p14="http://schemas.microsoft.com/office/powerpoint/2010/main" val="2662042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4C4908-A0AE-443F-8655-7D5A47885486}" type="datetimeFigureOut">
              <a:rPr lang="en-IN" smtClean="0"/>
              <a:t>01-12-2025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BCD6D8-48C7-4C57-988C-C7DC3D94207F}" type="slidenum">
              <a:rPr lang="en-IN" smtClean="0"/>
              <a:t>‹#›</a:t>
            </a:fld>
            <a:endParaRPr lang="en-IN"/>
          </a:p>
        </p:txBody>
      </p:sp>
    </p:spTree>
    <p:extLst>
      <p:ext uri="{BB962C8B-B14F-4D97-AF65-F5344CB8AC3E}">
        <p14:creationId xmlns:p14="http://schemas.microsoft.com/office/powerpoint/2010/main" val="836674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4C4908-A0AE-443F-8655-7D5A47885486}" type="datetimeFigureOut">
              <a:rPr lang="en-IN" smtClean="0"/>
              <a:t>01-12-2025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BCD6D8-48C7-4C57-988C-C7DC3D94207F}" type="slidenum">
              <a:rPr lang="en-IN" smtClean="0"/>
              <a:t>‹#›</a:t>
            </a:fld>
            <a:endParaRPr lang="en-IN"/>
          </a:p>
        </p:txBody>
      </p:sp>
    </p:spTree>
    <p:extLst>
      <p:ext uri="{BB962C8B-B14F-4D97-AF65-F5344CB8AC3E}">
        <p14:creationId xmlns:p14="http://schemas.microsoft.com/office/powerpoint/2010/main" val="2850291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4C4908-A0AE-443F-8655-7D5A47885486}"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D6D8-48C7-4C57-988C-C7DC3D94207F}" type="slidenum">
              <a:rPr lang="en-IN" smtClean="0"/>
              <a:t>‹#›</a:t>
            </a:fld>
            <a:endParaRPr lang="en-IN"/>
          </a:p>
        </p:txBody>
      </p:sp>
    </p:spTree>
    <p:extLst>
      <p:ext uri="{BB962C8B-B14F-4D97-AF65-F5344CB8AC3E}">
        <p14:creationId xmlns:p14="http://schemas.microsoft.com/office/powerpoint/2010/main" val="103418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4C4908-A0AE-443F-8655-7D5A47885486}"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D6D8-48C7-4C57-988C-C7DC3D94207F}"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4912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4C4908-A0AE-443F-8655-7D5A47885486}"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D6D8-48C7-4C57-988C-C7DC3D94207F}" type="slidenum">
              <a:rPr lang="en-IN" smtClean="0"/>
              <a:t>‹#›</a:t>
            </a:fld>
            <a:endParaRPr lang="en-IN"/>
          </a:p>
        </p:txBody>
      </p:sp>
    </p:spTree>
    <p:extLst>
      <p:ext uri="{BB962C8B-B14F-4D97-AF65-F5344CB8AC3E}">
        <p14:creationId xmlns:p14="http://schemas.microsoft.com/office/powerpoint/2010/main" val="3378989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4C4908-A0AE-443F-8655-7D5A47885486}"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D6D8-48C7-4C57-988C-C7DC3D94207F}"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0585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C4C4908-A0AE-443F-8655-7D5A47885486}" type="datetimeFigureOut">
              <a:rPr lang="en-IN" smtClean="0"/>
              <a:t>01-12-2025</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9BCD6D8-48C7-4C57-988C-C7DC3D94207F}"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55489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A6367-FEEB-448D-3C7F-C4630EE1E3BA}"/>
              </a:ext>
            </a:extLst>
          </p:cNvPr>
          <p:cNvSpPr>
            <a:spLocks noGrp="1"/>
          </p:cNvSpPr>
          <p:nvPr>
            <p:ph type="ctrTitle"/>
          </p:nvPr>
        </p:nvSpPr>
        <p:spPr/>
        <p:txBody>
          <a:bodyPr>
            <a:normAutofit fontScale="90000"/>
          </a:bodyPr>
          <a:lstStyle/>
          <a:p>
            <a:r>
              <a:rPr lang="en-IN" dirty="0"/>
              <a:t>DESIGNING XENO LANDING PAGE FOR RETAIL MARKETERS AND CRM MANAGERS</a:t>
            </a:r>
          </a:p>
        </p:txBody>
      </p:sp>
      <p:sp>
        <p:nvSpPr>
          <p:cNvPr id="3" name="Subtitle 2">
            <a:extLst>
              <a:ext uri="{FF2B5EF4-FFF2-40B4-BE49-F238E27FC236}">
                <a16:creationId xmlns:a16="http://schemas.microsoft.com/office/drawing/2014/main" id="{F2E37254-54A0-B149-2B2B-C423CE32E535}"/>
              </a:ext>
            </a:extLst>
          </p:cNvPr>
          <p:cNvSpPr>
            <a:spLocks noGrp="1"/>
          </p:cNvSpPr>
          <p:nvPr>
            <p:ph type="subTitle" idx="1"/>
          </p:nvPr>
        </p:nvSpPr>
        <p:spPr/>
        <p:txBody>
          <a:bodyPr/>
          <a:lstStyle/>
          <a:p>
            <a:pPr algn="r"/>
            <a:r>
              <a:rPr lang="en-IN" dirty="0"/>
              <a:t>Submitted by:-</a:t>
            </a:r>
          </a:p>
          <a:p>
            <a:pPr algn="r"/>
            <a:r>
              <a:rPr lang="en-IN" dirty="0"/>
              <a:t>22BLC1217</a:t>
            </a:r>
          </a:p>
          <a:p>
            <a:pPr algn="r"/>
            <a:r>
              <a:rPr lang="en-IN" dirty="0"/>
              <a:t>Piyush Arora</a:t>
            </a:r>
          </a:p>
        </p:txBody>
      </p:sp>
    </p:spTree>
    <p:extLst>
      <p:ext uri="{BB962C8B-B14F-4D97-AF65-F5344CB8AC3E}">
        <p14:creationId xmlns:p14="http://schemas.microsoft.com/office/powerpoint/2010/main" val="169679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F31C-3138-69B1-156D-EFD735A07E14}"/>
              </a:ext>
            </a:extLst>
          </p:cNvPr>
          <p:cNvSpPr>
            <a:spLocks noGrp="1"/>
          </p:cNvSpPr>
          <p:nvPr>
            <p:ph type="title"/>
          </p:nvPr>
        </p:nvSpPr>
        <p:spPr/>
        <p:txBody>
          <a:bodyPr/>
          <a:lstStyle/>
          <a:p>
            <a:r>
              <a:rPr lang="en-IN" dirty="0"/>
              <a:t>Objective of the Case Study</a:t>
            </a:r>
          </a:p>
        </p:txBody>
      </p:sp>
      <p:sp>
        <p:nvSpPr>
          <p:cNvPr id="3" name="Content Placeholder 2">
            <a:extLst>
              <a:ext uri="{FF2B5EF4-FFF2-40B4-BE49-F238E27FC236}">
                <a16:creationId xmlns:a16="http://schemas.microsoft.com/office/drawing/2014/main" id="{A2151CAC-18AF-E592-26DC-EF95BFD99DF3}"/>
              </a:ext>
            </a:extLst>
          </p:cNvPr>
          <p:cNvSpPr>
            <a:spLocks noGrp="1"/>
          </p:cNvSpPr>
          <p:nvPr>
            <p:ph idx="1"/>
          </p:nvPr>
        </p:nvSpPr>
        <p:spPr/>
        <p:txBody>
          <a:bodyPr/>
          <a:lstStyle/>
          <a:p>
            <a:r>
              <a:rPr lang="en-US" b="1" dirty="0"/>
              <a:t>Objective:</a:t>
            </a:r>
            <a:br>
              <a:rPr lang="en-US" dirty="0"/>
            </a:br>
            <a:r>
              <a:rPr lang="en-US" dirty="0"/>
              <a:t>To design a homepage that gives CRM Managers, Retail Marketers, and Growth/Retention Managers instant clarity on how their campaigns and customer segments are performing. The dashboard should highlight what is working, what is underperforming, and what actions they should take next.</a:t>
            </a:r>
          </a:p>
          <a:p>
            <a:r>
              <a:rPr lang="en-US" b="1" dirty="0"/>
              <a:t>Goal:</a:t>
            </a:r>
            <a:br>
              <a:rPr lang="en-US" dirty="0"/>
            </a:br>
            <a:r>
              <a:rPr lang="en-US" dirty="0"/>
              <a:t>To help marketers make fast, user-centric decisions that improve customer engagement and maximize ROI. This reduces guesswork and increases confidence in their daily marketing activities.</a:t>
            </a:r>
          </a:p>
        </p:txBody>
      </p:sp>
    </p:spTree>
    <p:extLst>
      <p:ext uri="{BB962C8B-B14F-4D97-AF65-F5344CB8AC3E}">
        <p14:creationId xmlns:p14="http://schemas.microsoft.com/office/powerpoint/2010/main" val="2015253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D12A3-802A-2744-9945-D2D491CF7FA2}"/>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BE683958-AFCF-5D1A-3201-3DE842F7CB10}"/>
              </a:ext>
            </a:extLst>
          </p:cNvPr>
          <p:cNvSpPr>
            <a:spLocks noGrp="1"/>
          </p:cNvSpPr>
          <p:nvPr>
            <p:ph idx="1"/>
          </p:nvPr>
        </p:nvSpPr>
        <p:spPr/>
        <p:txBody>
          <a:bodyPr/>
          <a:lstStyle/>
          <a:p>
            <a:r>
              <a:rPr lang="en-US" dirty="0"/>
              <a:t>Retail marketers and CRM managers often face uncertainty when managing multiple campaigns across channels like WhatsApp, SMS, Email, and Push. They struggle to quickly understand which campaigns are performing well, which customer segments are responding, and where revenue is being lost. This lack of instant clarity leads to slow decision making, wasted marketing budget, and missed opportunities to re-engage customers. Xeno needs a homepage that brings this information together in one place the moment a user logs in.</a:t>
            </a:r>
          </a:p>
          <a:p>
            <a:endParaRPr lang="en-IN" dirty="0"/>
          </a:p>
        </p:txBody>
      </p:sp>
    </p:spTree>
    <p:extLst>
      <p:ext uri="{BB962C8B-B14F-4D97-AF65-F5344CB8AC3E}">
        <p14:creationId xmlns:p14="http://schemas.microsoft.com/office/powerpoint/2010/main" val="8446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68BD-2A82-E4C1-596A-3D4D8B7838A0}"/>
              </a:ext>
            </a:extLst>
          </p:cNvPr>
          <p:cNvSpPr>
            <a:spLocks noGrp="1"/>
          </p:cNvSpPr>
          <p:nvPr>
            <p:ph type="title"/>
          </p:nvPr>
        </p:nvSpPr>
        <p:spPr/>
        <p:txBody>
          <a:bodyPr/>
          <a:lstStyle/>
          <a:p>
            <a:r>
              <a:rPr lang="en-IN" dirty="0"/>
              <a:t>USER PERSONA</a:t>
            </a:r>
          </a:p>
        </p:txBody>
      </p:sp>
      <p:sp>
        <p:nvSpPr>
          <p:cNvPr id="3" name="Content Placeholder 2">
            <a:extLst>
              <a:ext uri="{FF2B5EF4-FFF2-40B4-BE49-F238E27FC236}">
                <a16:creationId xmlns:a16="http://schemas.microsoft.com/office/drawing/2014/main" id="{2C11CD5F-B42B-2EAF-2D84-34F614D448A6}"/>
              </a:ext>
            </a:extLst>
          </p:cNvPr>
          <p:cNvSpPr>
            <a:spLocks noGrp="1"/>
          </p:cNvSpPr>
          <p:nvPr>
            <p:ph idx="1"/>
          </p:nvPr>
        </p:nvSpPr>
        <p:spPr/>
        <p:txBody>
          <a:bodyPr>
            <a:normAutofit fontScale="92500" lnSpcReduction="10000"/>
          </a:bodyPr>
          <a:lstStyle/>
          <a:p>
            <a:r>
              <a:rPr lang="en-US" b="1" dirty="0"/>
              <a:t>Daily Behavior:</a:t>
            </a:r>
            <a:br>
              <a:rPr lang="en-US" dirty="0"/>
            </a:br>
            <a:r>
              <a:rPr lang="en-US" dirty="0"/>
              <a:t>A retail marketer’s first check in the morning is to see how yesterday’s campaigns performed and which customer segments dropped in activity. Even a simple WhatsApp message costs money, so its ROI matters immediately.</a:t>
            </a:r>
          </a:p>
          <a:p>
            <a:r>
              <a:rPr lang="en-US" b="1" dirty="0"/>
              <a:t>Key Responsibilities:</a:t>
            </a:r>
            <a:endParaRPr lang="en-US" dirty="0"/>
          </a:p>
          <a:p>
            <a:r>
              <a:rPr lang="en-US" dirty="0"/>
              <a:t>Segment customers based on behavior and purchase history</a:t>
            </a:r>
          </a:p>
          <a:p>
            <a:r>
              <a:rPr lang="en-US" dirty="0"/>
              <a:t>Re-engage inactive or low-response customers</a:t>
            </a:r>
          </a:p>
          <a:p>
            <a:r>
              <a:rPr lang="en-US" dirty="0"/>
              <a:t>Track campaign performance and ROI</a:t>
            </a:r>
          </a:p>
          <a:p>
            <a:r>
              <a:rPr lang="en-US" dirty="0"/>
              <a:t>Align marketing actions with business revenue goals</a:t>
            </a:r>
          </a:p>
          <a:p>
            <a:r>
              <a:rPr lang="en-US" b="1" dirty="0"/>
              <a:t>Primary Tools:</a:t>
            </a:r>
            <a:br>
              <a:rPr lang="en-US" dirty="0"/>
            </a:br>
            <a:r>
              <a:rPr lang="en-US" dirty="0"/>
              <a:t>WhatsApp Business APIs, CRM systems, email marketing tools, and the Xeno application.</a:t>
            </a:r>
          </a:p>
        </p:txBody>
      </p:sp>
    </p:spTree>
    <p:extLst>
      <p:ext uri="{BB962C8B-B14F-4D97-AF65-F5344CB8AC3E}">
        <p14:creationId xmlns:p14="http://schemas.microsoft.com/office/powerpoint/2010/main" val="3267543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D4F51-5BF2-D7FC-F6FA-20061CC68667}"/>
              </a:ext>
            </a:extLst>
          </p:cNvPr>
          <p:cNvSpPr>
            <a:spLocks noGrp="1"/>
          </p:cNvSpPr>
          <p:nvPr>
            <p:ph type="title"/>
          </p:nvPr>
        </p:nvSpPr>
        <p:spPr/>
        <p:txBody>
          <a:bodyPr/>
          <a:lstStyle/>
          <a:p>
            <a:r>
              <a:rPr lang="en-IN" dirty="0"/>
              <a:t>WHY THEY NEED HELP</a:t>
            </a:r>
          </a:p>
        </p:txBody>
      </p:sp>
      <p:sp>
        <p:nvSpPr>
          <p:cNvPr id="3" name="Content Placeholder 2">
            <a:extLst>
              <a:ext uri="{FF2B5EF4-FFF2-40B4-BE49-F238E27FC236}">
                <a16:creationId xmlns:a16="http://schemas.microsoft.com/office/drawing/2014/main" id="{03BA1738-117E-2DC2-380F-BD1B3EB64761}"/>
              </a:ext>
            </a:extLst>
          </p:cNvPr>
          <p:cNvSpPr>
            <a:spLocks noGrp="1"/>
          </p:cNvSpPr>
          <p:nvPr>
            <p:ph idx="1"/>
          </p:nvPr>
        </p:nvSpPr>
        <p:spPr/>
        <p:txBody>
          <a:bodyPr/>
          <a:lstStyle/>
          <a:p>
            <a:r>
              <a:rPr lang="en-US" dirty="0"/>
              <a:t>Customer behavior changes quickly</a:t>
            </a:r>
          </a:p>
          <a:p>
            <a:r>
              <a:rPr lang="en-US" dirty="0"/>
              <a:t>Campaign performance is hard to track across channels</a:t>
            </a:r>
          </a:p>
          <a:p>
            <a:r>
              <a:rPr lang="en-US" dirty="0"/>
              <a:t>Each WhatsApp message costs money and demands positive ROI</a:t>
            </a:r>
          </a:p>
          <a:p>
            <a:r>
              <a:rPr lang="en-US" dirty="0"/>
              <a:t>Marketers must react fast to drops in engagement</a:t>
            </a:r>
          </a:p>
          <a:p>
            <a:endParaRPr lang="en-US" dirty="0"/>
          </a:p>
          <a:p>
            <a:r>
              <a:rPr lang="en-US" dirty="0"/>
              <a:t>Just as Amazon uses behavioral nudges or Starbucks uses loyalty rewards to re-engage customers, marketers need clarity on which segments respond and which do not.</a:t>
            </a:r>
          </a:p>
        </p:txBody>
      </p:sp>
    </p:spTree>
    <p:extLst>
      <p:ext uri="{BB962C8B-B14F-4D97-AF65-F5344CB8AC3E}">
        <p14:creationId xmlns:p14="http://schemas.microsoft.com/office/powerpoint/2010/main" val="2434537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698C-44B4-9F37-0BED-7BAF2EA4474B}"/>
              </a:ext>
            </a:extLst>
          </p:cNvPr>
          <p:cNvSpPr>
            <a:spLocks noGrp="1"/>
          </p:cNvSpPr>
          <p:nvPr>
            <p:ph type="title"/>
          </p:nvPr>
        </p:nvSpPr>
        <p:spPr/>
        <p:txBody>
          <a:bodyPr/>
          <a:lstStyle/>
          <a:p>
            <a:r>
              <a:rPr lang="en-IN" dirty="0"/>
              <a:t>Jobs TO BE DONE</a:t>
            </a:r>
          </a:p>
        </p:txBody>
      </p:sp>
      <p:sp>
        <p:nvSpPr>
          <p:cNvPr id="3" name="Content Placeholder 2">
            <a:extLst>
              <a:ext uri="{FF2B5EF4-FFF2-40B4-BE49-F238E27FC236}">
                <a16:creationId xmlns:a16="http://schemas.microsoft.com/office/drawing/2014/main" id="{60AC91F5-A2B6-3BD6-42F4-41D133CB56EB}"/>
              </a:ext>
            </a:extLst>
          </p:cNvPr>
          <p:cNvSpPr>
            <a:spLocks noGrp="1"/>
          </p:cNvSpPr>
          <p:nvPr>
            <p:ph idx="1"/>
          </p:nvPr>
        </p:nvSpPr>
        <p:spPr/>
        <p:txBody>
          <a:bodyPr>
            <a:normAutofit fontScale="92500" lnSpcReduction="20000"/>
          </a:bodyPr>
          <a:lstStyle/>
          <a:p>
            <a:r>
              <a:rPr lang="en-US" b="1" dirty="0"/>
              <a:t>Functional Jobs:</a:t>
            </a:r>
            <a:endParaRPr lang="en-US" dirty="0"/>
          </a:p>
          <a:p>
            <a:r>
              <a:rPr lang="en-US" dirty="0"/>
              <a:t>Understand how yesterday’s campaigns performed across channels</a:t>
            </a:r>
          </a:p>
          <a:p>
            <a:r>
              <a:rPr lang="en-US" dirty="0"/>
              <a:t>Identify which customer segments responded and which segments dropped</a:t>
            </a:r>
          </a:p>
          <a:p>
            <a:r>
              <a:rPr lang="en-US" dirty="0"/>
              <a:t>See where marketing spend (WhatsApp, SMS, email) delivered ROI or was wasted</a:t>
            </a:r>
          </a:p>
          <a:p>
            <a:r>
              <a:rPr lang="en-US" dirty="0"/>
              <a:t>Take quick actions to fix underperforming campaigns</a:t>
            </a:r>
          </a:p>
          <a:p>
            <a:r>
              <a:rPr lang="en-US" b="1" dirty="0"/>
              <a:t>Emotional Jobs:</a:t>
            </a:r>
            <a:endParaRPr lang="en-US" dirty="0"/>
          </a:p>
          <a:p>
            <a:r>
              <a:rPr lang="en-US" dirty="0"/>
              <a:t>Feel confident that every message sent is justified by real data</a:t>
            </a:r>
          </a:p>
          <a:p>
            <a:r>
              <a:rPr lang="en-US" dirty="0"/>
              <a:t>Reduce uncertainty and avoid the fear of making costly decisions</a:t>
            </a:r>
          </a:p>
          <a:p>
            <a:r>
              <a:rPr lang="en-US" b="1" dirty="0"/>
              <a:t>Social Jobs:</a:t>
            </a:r>
            <a:endParaRPr lang="en-US" dirty="0"/>
          </a:p>
          <a:p>
            <a:r>
              <a:rPr lang="en-US" dirty="0"/>
              <a:t>Show leadership that marketing decisions are data-driven and effective</a:t>
            </a:r>
          </a:p>
          <a:p>
            <a:endParaRPr lang="en-IN" dirty="0"/>
          </a:p>
        </p:txBody>
      </p:sp>
    </p:spTree>
    <p:extLst>
      <p:ext uri="{BB962C8B-B14F-4D97-AF65-F5344CB8AC3E}">
        <p14:creationId xmlns:p14="http://schemas.microsoft.com/office/powerpoint/2010/main" val="3963183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115DB-DB18-3110-E34D-8603A7090491}"/>
              </a:ext>
            </a:extLst>
          </p:cNvPr>
          <p:cNvSpPr>
            <a:spLocks noGrp="1"/>
          </p:cNvSpPr>
          <p:nvPr>
            <p:ph type="title"/>
          </p:nvPr>
        </p:nvSpPr>
        <p:spPr/>
        <p:txBody>
          <a:bodyPr/>
          <a:lstStyle/>
          <a:p>
            <a:r>
              <a:rPr lang="en-IN" dirty="0"/>
              <a:t>DASHBOARD/HOMEPAGE NEEDS</a:t>
            </a:r>
          </a:p>
        </p:txBody>
      </p:sp>
      <p:sp>
        <p:nvSpPr>
          <p:cNvPr id="4" name="TextBox 3">
            <a:extLst>
              <a:ext uri="{FF2B5EF4-FFF2-40B4-BE49-F238E27FC236}">
                <a16:creationId xmlns:a16="http://schemas.microsoft.com/office/drawing/2014/main" id="{3DB6B83B-0F63-EA5A-E3AA-6155448F4A0C}"/>
              </a:ext>
            </a:extLst>
          </p:cNvPr>
          <p:cNvSpPr txBox="1"/>
          <p:nvPr/>
        </p:nvSpPr>
        <p:spPr>
          <a:xfrm>
            <a:off x="910002" y="2313432"/>
            <a:ext cx="4330213" cy="2862322"/>
          </a:xfrm>
          <a:prstGeom prst="rect">
            <a:avLst/>
          </a:prstGeom>
          <a:noFill/>
        </p:spPr>
        <p:txBody>
          <a:bodyPr wrap="square" rtlCol="0">
            <a:spAutoFit/>
          </a:bodyPr>
          <a:lstStyle/>
          <a:p>
            <a:r>
              <a:rPr lang="en-US" b="1" dirty="0"/>
              <a:t>1. Key Metrics</a:t>
            </a:r>
            <a:br>
              <a:rPr lang="en-US" dirty="0"/>
            </a:br>
            <a:r>
              <a:rPr lang="en-US" dirty="0"/>
              <a:t>• Yesterday’s conversions</a:t>
            </a:r>
            <a:br>
              <a:rPr lang="en-US" dirty="0"/>
            </a:br>
            <a:r>
              <a:rPr lang="en-US" dirty="0"/>
              <a:t>• Revenue and ROI</a:t>
            </a:r>
            <a:br>
              <a:rPr lang="en-US" dirty="0"/>
            </a:br>
            <a:r>
              <a:rPr lang="en-US" dirty="0"/>
              <a:t>• Channel-wise spend</a:t>
            </a:r>
            <a:br>
              <a:rPr lang="en-US" dirty="0"/>
            </a:br>
            <a:r>
              <a:rPr lang="en-US" dirty="0"/>
              <a:t>• Customers re-engaged</a:t>
            </a:r>
          </a:p>
          <a:p>
            <a:r>
              <a:rPr lang="en-US" b="1" dirty="0"/>
              <a:t>2. Segment Health</a:t>
            </a:r>
            <a:br>
              <a:rPr lang="en-US" dirty="0"/>
            </a:br>
            <a:r>
              <a:rPr lang="en-US" dirty="0"/>
              <a:t>• Top performing segments</a:t>
            </a:r>
            <a:br>
              <a:rPr lang="en-US" dirty="0"/>
            </a:br>
            <a:r>
              <a:rPr lang="en-US" dirty="0"/>
              <a:t>• Dropping engagement</a:t>
            </a:r>
            <a:br>
              <a:rPr lang="en-US" dirty="0"/>
            </a:br>
            <a:r>
              <a:rPr lang="en-US" dirty="0"/>
              <a:t>• High churn-risk groups</a:t>
            </a:r>
          </a:p>
          <a:p>
            <a:endParaRPr lang="en-IN" dirty="0"/>
          </a:p>
        </p:txBody>
      </p:sp>
      <p:sp>
        <p:nvSpPr>
          <p:cNvPr id="5" name="TextBox 4">
            <a:extLst>
              <a:ext uri="{FF2B5EF4-FFF2-40B4-BE49-F238E27FC236}">
                <a16:creationId xmlns:a16="http://schemas.microsoft.com/office/drawing/2014/main" id="{550E1060-AE22-EDDA-E83D-6A4062B61E20}"/>
              </a:ext>
            </a:extLst>
          </p:cNvPr>
          <p:cNvSpPr txBox="1"/>
          <p:nvPr/>
        </p:nvSpPr>
        <p:spPr>
          <a:xfrm>
            <a:off x="6386146" y="2313432"/>
            <a:ext cx="3426069" cy="3139321"/>
          </a:xfrm>
          <a:prstGeom prst="rect">
            <a:avLst/>
          </a:prstGeom>
          <a:noFill/>
        </p:spPr>
        <p:txBody>
          <a:bodyPr wrap="square" rtlCol="0">
            <a:spAutoFit/>
          </a:bodyPr>
          <a:lstStyle/>
          <a:p>
            <a:r>
              <a:rPr lang="en-US" b="1" dirty="0"/>
              <a:t>3. Channel Performance</a:t>
            </a:r>
            <a:br>
              <a:rPr lang="en-US" dirty="0"/>
            </a:br>
            <a:r>
              <a:rPr lang="en-US" dirty="0"/>
              <a:t>• WhatsApp cost vs revenue</a:t>
            </a:r>
            <a:br>
              <a:rPr lang="en-US" dirty="0"/>
            </a:br>
            <a:r>
              <a:rPr lang="en-US" dirty="0"/>
              <a:t>• Email open/click rates</a:t>
            </a:r>
            <a:br>
              <a:rPr lang="en-US" dirty="0"/>
            </a:br>
            <a:r>
              <a:rPr lang="en-US" dirty="0"/>
              <a:t>• SMS delivery/response</a:t>
            </a:r>
          </a:p>
          <a:p>
            <a:r>
              <a:rPr lang="en-US" b="1" dirty="0"/>
              <a:t>4. Alerts</a:t>
            </a:r>
            <a:br>
              <a:rPr lang="en-US" dirty="0"/>
            </a:br>
            <a:r>
              <a:rPr lang="en-US" dirty="0"/>
              <a:t>• Underperforming campaigns</a:t>
            </a:r>
            <a:br>
              <a:rPr lang="en-US" dirty="0"/>
            </a:br>
            <a:r>
              <a:rPr lang="en-US" dirty="0"/>
              <a:t>• Overspending or low-response</a:t>
            </a:r>
          </a:p>
          <a:p>
            <a:r>
              <a:rPr lang="en-US" b="1" dirty="0"/>
              <a:t>5. Recommended Actions</a:t>
            </a:r>
            <a:br>
              <a:rPr lang="en-US" dirty="0"/>
            </a:br>
            <a:r>
              <a:rPr lang="en-US" dirty="0"/>
              <a:t>• Re-engage high-intent users</a:t>
            </a:r>
            <a:br>
              <a:rPr lang="en-US" dirty="0"/>
            </a:br>
            <a:r>
              <a:rPr lang="en-US" dirty="0"/>
              <a:t>• Offer to low-activity customers</a:t>
            </a:r>
          </a:p>
          <a:p>
            <a:endParaRPr lang="en-IN" dirty="0"/>
          </a:p>
        </p:txBody>
      </p:sp>
    </p:spTree>
    <p:extLst>
      <p:ext uri="{BB962C8B-B14F-4D97-AF65-F5344CB8AC3E}">
        <p14:creationId xmlns:p14="http://schemas.microsoft.com/office/powerpoint/2010/main" val="1259217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7A552-6FA5-C1EC-6D3B-D2A6AE8E8F12}"/>
              </a:ext>
            </a:extLst>
          </p:cNvPr>
          <p:cNvSpPr>
            <a:spLocks noGrp="1"/>
          </p:cNvSpPr>
          <p:nvPr>
            <p:ph type="title"/>
          </p:nvPr>
        </p:nvSpPr>
        <p:spPr/>
        <p:txBody>
          <a:bodyPr/>
          <a:lstStyle/>
          <a:p>
            <a:r>
              <a:rPr lang="en-IN" dirty="0"/>
              <a:t>WIREFRAME DESIGN</a:t>
            </a:r>
          </a:p>
        </p:txBody>
      </p:sp>
      <p:sp>
        <p:nvSpPr>
          <p:cNvPr id="4" name="TextBox 3">
            <a:extLst>
              <a:ext uri="{FF2B5EF4-FFF2-40B4-BE49-F238E27FC236}">
                <a16:creationId xmlns:a16="http://schemas.microsoft.com/office/drawing/2014/main" id="{FAF4A665-1996-4830-5F6A-482D72E749B4}"/>
              </a:ext>
            </a:extLst>
          </p:cNvPr>
          <p:cNvSpPr txBox="1"/>
          <p:nvPr/>
        </p:nvSpPr>
        <p:spPr>
          <a:xfrm>
            <a:off x="815842" y="2388216"/>
            <a:ext cx="2351314" cy="1200329"/>
          </a:xfrm>
          <a:prstGeom prst="rect">
            <a:avLst/>
          </a:prstGeom>
          <a:solidFill>
            <a:schemeClr val="bg1"/>
          </a:solidFill>
        </p:spPr>
        <p:txBody>
          <a:bodyPr wrap="square" rtlCol="0">
            <a:spAutoFit/>
          </a:bodyPr>
          <a:lstStyle/>
          <a:p>
            <a:r>
              <a:rPr lang="en-IN" dirty="0"/>
              <a:t>Revenue</a:t>
            </a:r>
          </a:p>
          <a:p>
            <a:endParaRPr lang="en-IN" dirty="0"/>
          </a:p>
          <a:p>
            <a:r>
              <a:rPr lang="en-IN" b="1" dirty="0"/>
              <a:t>Rs. 3,20,000</a:t>
            </a:r>
          </a:p>
          <a:p>
            <a:r>
              <a:rPr lang="en-IN" dirty="0"/>
              <a:t>Up by 8% vs yesterday</a:t>
            </a:r>
          </a:p>
        </p:txBody>
      </p:sp>
      <p:sp>
        <p:nvSpPr>
          <p:cNvPr id="10" name="Rectangle: Rounded Corners 9">
            <a:extLst>
              <a:ext uri="{FF2B5EF4-FFF2-40B4-BE49-F238E27FC236}">
                <a16:creationId xmlns:a16="http://schemas.microsoft.com/office/drawing/2014/main" id="{E086429E-780E-DF91-D025-FED526F4C70E}"/>
              </a:ext>
            </a:extLst>
          </p:cNvPr>
          <p:cNvSpPr/>
          <p:nvPr/>
        </p:nvSpPr>
        <p:spPr>
          <a:xfrm>
            <a:off x="727475" y="2238572"/>
            <a:ext cx="2528047" cy="1278351"/>
          </a:xfrm>
          <a:prstGeom prst="round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IN" dirty="0"/>
              <a:t>Revenue</a:t>
            </a:r>
          </a:p>
          <a:p>
            <a:endParaRPr lang="en-IN" dirty="0"/>
          </a:p>
          <a:p>
            <a:r>
              <a:rPr lang="en-IN" b="1" dirty="0"/>
              <a:t>Rs. 3,20,000</a:t>
            </a:r>
          </a:p>
          <a:p>
            <a:r>
              <a:rPr lang="en-IN" dirty="0"/>
              <a:t>Up by 8% vs yesterday</a:t>
            </a:r>
          </a:p>
          <a:p>
            <a:pPr algn="ctr"/>
            <a:endParaRPr lang="en-IN" dirty="0"/>
          </a:p>
        </p:txBody>
      </p:sp>
      <p:sp>
        <p:nvSpPr>
          <p:cNvPr id="11" name="Rectangle: Rounded Corners 10">
            <a:extLst>
              <a:ext uri="{FF2B5EF4-FFF2-40B4-BE49-F238E27FC236}">
                <a16:creationId xmlns:a16="http://schemas.microsoft.com/office/drawing/2014/main" id="{5D185F2F-250F-3D48-92B8-79CBCBC1EF99}"/>
              </a:ext>
            </a:extLst>
          </p:cNvPr>
          <p:cNvSpPr/>
          <p:nvPr/>
        </p:nvSpPr>
        <p:spPr>
          <a:xfrm>
            <a:off x="3567954" y="2238572"/>
            <a:ext cx="2528046" cy="1278351"/>
          </a:xfrm>
          <a:prstGeom prst="round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IN" dirty="0"/>
              <a:t>Conversion Rate</a:t>
            </a:r>
          </a:p>
          <a:p>
            <a:endParaRPr lang="en-IN" dirty="0"/>
          </a:p>
          <a:p>
            <a:r>
              <a:rPr lang="en-IN" b="1" dirty="0"/>
              <a:t>12.4%</a:t>
            </a:r>
          </a:p>
          <a:p>
            <a:r>
              <a:rPr lang="en-IN" dirty="0" err="1"/>
              <a:t>Upto</a:t>
            </a:r>
            <a:r>
              <a:rPr lang="en-IN" dirty="0"/>
              <a:t> 2% yesterday</a:t>
            </a:r>
          </a:p>
          <a:p>
            <a:pPr algn="ctr"/>
            <a:endParaRPr lang="en-IN" dirty="0"/>
          </a:p>
        </p:txBody>
      </p:sp>
      <p:sp>
        <p:nvSpPr>
          <p:cNvPr id="12" name="Rectangle: Rounded Corners 11">
            <a:extLst>
              <a:ext uri="{FF2B5EF4-FFF2-40B4-BE49-F238E27FC236}">
                <a16:creationId xmlns:a16="http://schemas.microsoft.com/office/drawing/2014/main" id="{57687D70-0CB5-8806-D206-6FC0470F3EE7}"/>
              </a:ext>
            </a:extLst>
          </p:cNvPr>
          <p:cNvSpPr/>
          <p:nvPr/>
        </p:nvSpPr>
        <p:spPr>
          <a:xfrm>
            <a:off x="6408429" y="2238572"/>
            <a:ext cx="2307881" cy="1278351"/>
          </a:xfrm>
          <a:prstGeom prst="round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IN" dirty="0"/>
              <a:t>ROI by Channel</a:t>
            </a:r>
          </a:p>
          <a:p>
            <a:endParaRPr lang="en-IN" dirty="0"/>
          </a:p>
          <a:p>
            <a:r>
              <a:rPr lang="en-IN" b="1" dirty="0"/>
              <a:t>4.5 times</a:t>
            </a:r>
          </a:p>
          <a:p>
            <a:r>
              <a:rPr lang="en-IN" dirty="0"/>
              <a:t>Improving</a:t>
            </a:r>
          </a:p>
        </p:txBody>
      </p:sp>
      <p:sp>
        <p:nvSpPr>
          <p:cNvPr id="13" name="Rectangle: Rounded Corners 12">
            <a:extLst>
              <a:ext uri="{FF2B5EF4-FFF2-40B4-BE49-F238E27FC236}">
                <a16:creationId xmlns:a16="http://schemas.microsoft.com/office/drawing/2014/main" id="{ED06C9F6-5942-D167-C656-758A2BB881F6}"/>
              </a:ext>
            </a:extLst>
          </p:cNvPr>
          <p:cNvSpPr/>
          <p:nvPr/>
        </p:nvSpPr>
        <p:spPr>
          <a:xfrm>
            <a:off x="9028739" y="2238572"/>
            <a:ext cx="2427665" cy="1278351"/>
          </a:xfrm>
          <a:prstGeom prst="round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IN" dirty="0"/>
              <a:t>Customers Re-engaged</a:t>
            </a:r>
          </a:p>
          <a:p>
            <a:endParaRPr lang="en-IN" dirty="0"/>
          </a:p>
          <a:p>
            <a:r>
              <a:rPr lang="en-IN" b="1" dirty="0"/>
              <a:t>1,238</a:t>
            </a:r>
          </a:p>
          <a:p>
            <a:r>
              <a:rPr lang="en-IN" dirty="0"/>
              <a:t>12% New Responses</a:t>
            </a:r>
          </a:p>
        </p:txBody>
      </p:sp>
      <p:sp>
        <p:nvSpPr>
          <p:cNvPr id="14" name="TextBox 13">
            <a:extLst>
              <a:ext uri="{FF2B5EF4-FFF2-40B4-BE49-F238E27FC236}">
                <a16:creationId xmlns:a16="http://schemas.microsoft.com/office/drawing/2014/main" id="{11EE57F9-E275-1A69-86A7-A4BA9D2E76EB}"/>
              </a:ext>
            </a:extLst>
          </p:cNvPr>
          <p:cNvSpPr txBox="1"/>
          <p:nvPr/>
        </p:nvSpPr>
        <p:spPr>
          <a:xfrm>
            <a:off x="4728636" y="1715500"/>
            <a:ext cx="3617406" cy="369332"/>
          </a:xfrm>
          <a:prstGeom prst="rect">
            <a:avLst/>
          </a:prstGeom>
          <a:noFill/>
        </p:spPr>
        <p:txBody>
          <a:bodyPr wrap="square" rtlCol="0">
            <a:spAutoFit/>
          </a:bodyPr>
          <a:lstStyle/>
          <a:p>
            <a:r>
              <a:rPr lang="en-IN" b="1" dirty="0"/>
              <a:t>Key Metrics (Yesterday)</a:t>
            </a:r>
          </a:p>
        </p:txBody>
      </p:sp>
      <p:sp>
        <p:nvSpPr>
          <p:cNvPr id="16" name="Rectangle 15">
            <a:extLst>
              <a:ext uri="{FF2B5EF4-FFF2-40B4-BE49-F238E27FC236}">
                <a16:creationId xmlns:a16="http://schemas.microsoft.com/office/drawing/2014/main" id="{7E08DDA8-37E4-6420-4E9B-9469D30AEF5B}"/>
              </a:ext>
            </a:extLst>
          </p:cNvPr>
          <p:cNvSpPr/>
          <p:nvPr/>
        </p:nvSpPr>
        <p:spPr>
          <a:xfrm>
            <a:off x="1135464" y="3666567"/>
            <a:ext cx="3432892" cy="1688123"/>
          </a:xfrm>
          <a:prstGeom prst="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Segment Health</a:t>
            </a:r>
          </a:p>
          <a:p>
            <a:pPr algn="ctr"/>
            <a:endParaRPr lang="en-IN" b="1" dirty="0"/>
          </a:p>
          <a:p>
            <a:pPr marL="171450" indent="-171450">
              <a:buFontTx/>
              <a:buChar char="-"/>
            </a:pPr>
            <a:r>
              <a:rPr lang="en-IN" dirty="0"/>
              <a:t>Top segments</a:t>
            </a:r>
          </a:p>
          <a:p>
            <a:pPr marL="171450" indent="-171450">
              <a:buFontTx/>
              <a:buChar char="-"/>
            </a:pPr>
            <a:r>
              <a:rPr lang="en-IN" dirty="0"/>
              <a:t>Dropping engagement </a:t>
            </a:r>
          </a:p>
          <a:p>
            <a:pPr marL="171450" indent="-171450">
              <a:buFontTx/>
              <a:buChar char="-"/>
            </a:pPr>
            <a:r>
              <a:rPr lang="en-IN" dirty="0"/>
              <a:t>Churn risk</a:t>
            </a:r>
          </a:p>
        </p:txBody>
      </p:sp>
      <p:sp>
        <p:nvSpPr>
          <p:cNvPr id="17" name="Rectangle 16">
            <a:extLst>
              <a:ext uri="{FF2B5EF4-FFF2-40B4-BE49-F238E27FC236}">
                <a16:creationId xmlns:a16="http://schemas.microsoft.com/office/drawing/2014/main" id="{C2C00120-5B27-CA93-79F3-7963573E615F}"/>
              </a:ext>
            </a:extLst>
          </p:cNvPr>
          <p:cNvSpPr/>
          <p:nvPr/>
        </p:nvSpPr>
        <p:spPr>
          <a:xfrm>
            <a:off x="4728636" y="3666567"/>
            <a:ext cx="3088193" cy="1688123"/>
          </a:xfrm>
          <a:prstGeom prst="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sz="1600" b="1" dirty="0"/>
          </a:p>
          <a:p>
            <a:r>
              <a:rPr lang="en-US" sz="1600" b="1" dirty="0"/>
              <a:t>Channel Performance</a:t>
            </a:r>
            <a:endParaRPr lang="en-US" sz="1600" dirty="0"/>
          </a:p>
          <a:p>
            <a:r>
              <a:rPr lang="en-US" sz="1600" dirty="0"/>
              <a:t>- WhatsApp: cost, delivery, conversions</a:t>
            </a:r>
          </a:p>
          <a:p>
            <a:r>
              <a:rPr lang="en-US" sz="1600" dirty="0"/>
              <a:t>- Email: open rate, click rate</a:t>
            </a:r>
          </a:p>
          <a:p>
            <a:r>
              <a:rPr lang="en-US" sz="1600" dirty="0"/>
              <a:t>- SMS: delivery rate, response rate</a:t>
            </a:r>
          </a:p>
          <a:p>
            <a:pPr algn="ctr"/>
            <a:endParaRPr lang="en-IN" dirty="0"/>
          </a:p>
        </p:txBody>
      </p:sp>
      <p:sp>
        <p:nvSpPr>
          <p:cNvPr id="18" name="Rectangle 17">
            <a:extLst>
              <a:ext uri="{FF2B5EF4-FFF2-40B4-BE49-F238E27FC236}">
                <a16:creationId xmlns:a16="http://schemas.microsoft.com/office/drawing/2014/main" id="{489F6512-5ACB-B00C-CF45-F24C7062C9A2}"/>
              </a:ext>
            </a:extLst>
          </p:cNvPr>
          <p:cNvSpPr/>
          <p:nvPr/>
        </p:nvSpPr>
        <p:spPr>
          <a:xfrm>
            <a:off x="7968343" y="3666567"/>
            <a:ext cx="3088193" cy="1688122"/>
          </a:xfrm>
          <a:prstGeom prst="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IN" b="1" dirty="0"/>
              <a:t>Alerts </a:t>
            </a:r>
            <a:r>
              <a:rPr lang="en-IN" dirty="0"/>
              <a:t>                                  </a:t>
            </a:r>
          </a:p>
          <a:p>
            <a:r>
              <a:rPr lang="en-IN" dirty="0"/>
              <a:t>- Underperforming campaigns        </a:t>
            </a:r>
          </a:p>
          <a:p>
            <a:r>
              <a:rPr lang="en-IN" dirty="0"/>
              <a:t>- Overspending signals                   </a:t>
            </a:r>
          </a:p>
          <a:p>
            <a:r>
              <a:rPr lang="en-IN" dirty="0"/>
              <a:t>- Segment drop</a:t>
            </a:r>
          </a:p>
        </p:txBody>
      </p:sp>
      <p:sp>
        <p:nvSpPr>
          <p:cNvPr id="19" name="TextBox 18">
            <a:extLst>
              <a:ext uri="{FF2B5EF4-FFF2-40B4-BE49-F238E27FC236}">
                <a16:creationId xmlns:a16="http://schemas.microsoft.com/office/drawing/2014/main" id="{A37ADC45-1D73-FFA6-D33F-B0C7FA4719A7}"/>
              </a:ext>
            </a:extLst>
          </p:cNvPr>
          <p:cNvSpPr txBox="1"/>
          <p:nvPr/>
        </p:nvSpPr>
        <p:spPr>
          <a:xfrm>
            <a:off x="727475" y="5768156"/>
            <a:ext cx="4387136" cy="369332"/>
          </a:xfrm>
          <a:prstGeom prst="rect">
            <a:avLst/>
          </a:prstGeom>
          <a:noFill/>
          <a:ln>
            <a:solidFill>
              <a:schemeClr val="bg2">
                <a:lumMod val="90000"/>
              </a:schemeClr>
            </a:solidFill>
          </a:ln>
          <a:effectLst>
            <a:softEdge rad="31750"/>
          </a:effectLst>
        </p:spPr>
        <p:txBody>
          <a:bodyPr wrap="square" rtlCol="0">
            <a:spAutoFit/>
          </a:bodyPr>
          <a:lstStyle/>
          <a:p>
            <a:endParaRPr lang="en-IN" dirty="0"/>
          </a:p>
        </p:txBody>
      </p:sp>
      <p:sp>
        <p:nvSpPr>
          <p:cNvPr id="22" name="Rectangle: Rounded Corners 21">
            <a:extLst>
              <a:ext uri="{FF2B5EF4-FFF2-40B4-BE49-F238E27FC236}">
                <a16:creationId xmlns:a16="http://schemas.microsoft.com/office/drawing/2014/main" id="{CE04B85A-E4DC-2231-21D2-B34FE72FF1DE}"/>
              </a:ext>
            </a:extLst>
          </p:cNvPr>
          <p:cNvSpPr/>
          <p:nvPr/>
        </p:nvSpPr>
        <p:spPr>
          <a:xfrm>
            <a:off x="2240782" y="5539611"/>
            <a:ext cx="3356149" cy="1195754"/>
          </a:xfrm>
          <a:prstGeom prst="round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t>Recommended Actions</a:t>
            </a:r>
            <a:endParaRPr lang="en-US" sz="1400" dirty="0"/>
          </a:p>
          <a:p>
            <a:r>
              <a:rPr lang="en-US" sz="1400" dirty="0"/>
              <a:t>Re-engage high-intent customers</a:t>
            </a:r>
          </a:p>
          <a:p>
            <a:r>
              <a:rPr lang="en-US" sz="1400" dirty="0"/>
              <a:t>Send offers to low-activity segments</a:t>
            </a:r>
          </a:p>
          <a:p>
            <a:r>
              <a:rPr lang="en-US" sz="1400" dirty="0"/>
              <a:t>Pause low-performing campaigns</a:t>
            </a:r>
          </a:p>
          <a:p>
            <a:pPr algn="ctr"/>
            <a:endParaRPr lang="en-IN" dirty="0"/>
          </a:p>
        </p:txBody>
      </p:sp>
      <p:sp>
        <p:nvSpPr>
          <p:cNvPr id="23" name="Rectangle: Rounded Corners 22">
            <a:extLst>
              <a:ext uri="{FF2B5EF4-FFF2-40B4-BE49-F238E27FC236}">
                <a16:creationId xmlns:a16="http://schemas.microsoft.com/office/drawing/2014/main" id="{649107EE-42EE-8FEB-2656-A249FD9A65AE}"/>
              </a:ext>
            </a:extLst>
          </p:cNvPr>
          <p:cNvSpPr/>
          <p:nvPr/>
        </p:nvSpPr>
        <p:spPr>
          <a:xfrm>
            <a:off x="6240028" y="5539611"/>
            <a:ext cx="3356148" cy="1195754"/>
          </a:xfrm>
          <a:prstGeom prst="roundRect">
            <a:avLst/>
          </a:prstGeom>
          <a:ln>
            <a:solidFill>
              <a:schemeClr val="bg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t>Quick Actions</a:t>
            </a:r>
            <a:endParaRPr lang="en-US" sz="1600" dirty="0"/>
          </a:p>
          <a:p>
            <a:pPr algn="ctr"/>
            <a:r>
              <a:rPr lang="en-US" sz="1600" dirty="0"/>
              <a:t>Create Campaign</a:t>
            </a:r>
          </a:p>
          <a:p>
            <a:pPr algn="ctr"/>
            <a:r>
              <a:rPr lang="en-US" sz="1600" dirty="0"/>
              <a:t>View Segments</a:t>
            </a:r>
          </a:p>
          <a:p>
            <a:pPr algn="ctr"/>
            <a:r>
              <a:rPr lang="en-US" sz="1600" dirty="0"/>
              <a:t>Explore Templates</a:t>
            </a:r>
          </a:p>
          <a:p>
            <a:pPr algn="ctr"/>
            <a:endParaRPr lang="en-IN" dirty="0"/>
          </a:p>
        </p:txBody>
      </p:sp>
    </p:spTree>
    <p:extLst>
      <p:ext uri="{BB962C8B-B14F-4D97-AF65-F5344CB8AC3E}">
        <p14:creationId xmlns:p14="http://schemas.microsoft.com/office/powerpoint/2010/main" val="2606899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D4D8E-1BB4-F69C-89D9-32D5D09EE34E}"/>
              </a:ext>
            </a:extLst>
          </p:cNvPr>
          <p:cNvSpPr>
            <a:spLocks noGrp="1"/>
          </p:cNvSpPr>
          <p:nvPr>
            <p:ph type="title"/>
          </p:nvPr>
        </p:nvSpPr>
        <p:spPr/>
        <p:txBody>
          <a:bodyPr/>
          <a:lstStyle/>
          <a:p>
            <a:r>
              <a:rPr lang="en-IN" dirty="0"/>
              <a:t>WIREFRAME EXPLANATION</a:t>
            </a:r>
          </a:p>
        </p:txBody>
      </p:sp>
      <p:sp>
        <p:nvSpPr>
          <p:cNvPr id="4" name="Rectangle 1">
            <a:extLst>
              <a:ext uri="{FF2B5EF4-FFF2-40B4-BE49-F238E27FC236}">
                <a16:creationId xmlns:a16="http://schemas.microsoft.com/office/drawing/2014/main" id="{4CF21C61-9EE6-1AE9-4EF2-1A4159F45194}"/>
              </a:ext>
            </a:extLst>
          </p:cNvPr>
          <p:cNvSpPr>
            <a:spLocks noGrp="1" noChangeArrowheads="1"/>
          </p:cNvSpPr>
          <p:nvPr>
            <p:ph idx="1"/>
          </p:nvPr>
        </p:nvSpPr>
        <p:spPr bwMode="auto">
          <a:xfrm>
            <a:off x="1024128" y="2174025"/>
            <a:ext cx="993329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top cards show the key numbers a marketer checks every morning.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Revenue, conversion rate, ROI by channel and re engaged customers tell them how yesterday went in a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single glance.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middle section shows the health of segments and channels.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This helps them understand which groups respond well and which groups are slowing down.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It also helps them see which messaging channels are working for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alerts section brings attention to issues that need action.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Underperforming campaigns, overspending signals and segment drop usually create stress for marketers. </a:t>
            </a:r>
            <a:endParaRPr lang="en-US" altLang="en-US" sz="1800" dirty="0"/>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Showing these early helps them fix problems faster.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recommended actions and quick actions at the bottom help them take the next step without searching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through menus. This shortens the flow from checking performance to acting on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layout follows a simple flow that matches how marketers think.</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Top tells them what happened.</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Middle tells them why it happened.</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Bottom tells them what they should do next.</a:t>
            </a:r>
          </a:p>
        </p:txBody>
      </p:sp>
    </p:spTree>
    <p:extLst>
      <p:ext uri="{BB962C8B-B14F-4D97-AF65-F5344CB8AC3E}">
        <p14:creationId xmlns:p14="http://schemas.microsoft.com/office/powerpoint/2010/main" val="463131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9F253-9069-E0ED-0239-9942A3A2129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EA79A110-1D43-13CD-9010-048D6E74EA65}"/>
              </a:ext>
            </a:extLst>
          </p:cNvPr>
          <p:cNvSpPr>
            <a:spLocks noGrp="1"/>
          </p:cNvSpPr>
          <p:nvPr>
            <p:ph idx="1"/>
          </p:nvPr>
        </p:nvSpPr>
        <p:spPr/>
        <p:txBody>
          <a:bodyPr>
            <a:normAutofit lnSpcReduction="10000"/>
          </a:bodyPr>
          <a:lstStyle/>
          <a:p>
            <a:pPr marL="457200" indent="-457200">
              <a:buFont typeface="+mj-lt"/>
              <a:buAutoNum type="arabicPeriod"/>
            </a:pPr>
            <a:r>
              <a:rPr lang="en-US" dirty="0"/>
              <a:t>The wireframe directly supports the daily work of CRM managers, retail marketers and growth teams. It helps them evaluate performance, understand gaps and act on issues quickly.</a:t>
            </a:r>
          </a:p>
          <a:p>
            <a:pPr marL="457200" indent="-457200">
              <a:buFont typeface="+mj-lt"/>
              <a:buAutoNum type="arabicPeriod"/>
            </a:pPr>
            <a:r>
              <a:rPr lang="en-US" dirty="0"/>
              <a:t>The dashboard reduces confusion by turning raw performance data into clear insights and simple actions.</a:t>
            </a:r>
          </a:p>
          <a:p>
            <a:pPr marL="457200" indent="-457200">
              <a:buFont typeface="+mj-lt"/>
              <a:buAutoNum type="arabicPeriod"/>
            </a:pPr>
            <a:r>
              <a:rPr lang="en-US" dirty="0"/>
              <a:t>With segments, channels, alerts and KPIs in one place, marketers can make better decisions about where to invest effort and money.</a:t>
            </a:r>
          </a:p>
          <a:p>
            <a:pPr marL="457200" indent="-457200">
              <a:buFont typeface="+mj-lt"/>
              <a:buAutoNum type="arabicPeriod"/>
            </a:pPr>
            <a:r>
              <a:rPr lang="en-US" dirty="0"/>
              <a:t>The design also fits Xeno’s goal of helping marketers improve retention, engagement and ROI through better understanding of customer behavior.</a:t>
            </a:r>
          </a:p>
          <a:p>
            <a:pPr marL="457200" indent="-457200">
              <a:buFont typeface="+mj-lt"/>
              <a:buAutoNum type="arabicPeriod"/>
            </a:pPr>
            <a:r>
              <a:rPr lang="en-US" dirty="0"/>
              <a:t>This dashboard can grow into a more detailed view with drill downs, comparisons and smarter recommendations as the product evolves.</a:t>
            </a:r>
            <a:endParaRPr lang="en-IN" dirty="0"/>
          </a:p>
        </p:txBody>
      </p:sp>
    </p:spTree>
    <p:extLst>
      <p:ext uri="{BB962C8B-B14F-4D97-AF65-F5344CB8AC3E}">
        <p14:creationId xmlns:p14="http://schemas.microsoft.com/office/powerpoint/2010/main" val="35605093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230</TotalTime>
  <Words>930</Words>
  <Application>Microsoft Office PowerPoint</Application>
  <PresentationFormat>Widescreen</PresentationFormat>
  <Paragraphs>104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Tw Cen MT</vt:lpstr>
      <vt:lpstr>Tw Cen MT Condensed</vt:lpstr>
      <vt:lpstr>Wingdings 3</vt:lpstr>
      <vt:lpstr>Integral</vt:lpstr>
      <vt:lpstr>DESIGNING XENO LANDING PAGE FOR RETAIL MARKETERS AND CRM MANAGERS</vt:lpstr>
      <vt:lpstr>Objective of the Case Study</vt:lpstr>
      <vt:lpstr>Problem Statement</vt:lpstr>
      <vt:lpstr>USER PERSONA</vt:lpstr>
      <vt:lpstr>WHY THEY NEED HELP</vt:lpstr>
      <vt:lpstr>Jobs TO BE DONE</vt:lpstr>
      <vt:lpstr>DASHBOARD/HOMEPAGE NEEDS</vt:lpstr>
      <vt:lpstr>WIREFRAME DESIGN</vt:lpstr>
      <vt:lpstr>WIREFRAME EXPLANATION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Piyush Arora</dc:creator>
  <cp:lastModifiedBy>Piyush Arora</cp:lastModifiedBy>
  <cp:revision>1</cp:revision>
  <dcterms:created xsi:type="dcterms:W3CDTF">2025-12-01T13:46:32Z</dcterms:created>
  <dcterms:modified xsi:type="dcterms:W3CDTF">2025-12-01T17:37:28Z</dcterms:modified>
</cp:coreProperties>
</file>